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63" r:id="rId7"/>
    <p:sldId id="258" r:id="rId8"/>
    <p:sldId id="264" r:id="rId9"/>
    <p:sldId id="265" r:id="rId10"/>
    <p:sldId id="259" r:id="rId11"/>
    <p:sldId id="260" r:id="rId12"/>
    <p:sldId id="262" r:id="rId13"/>
    <p:sldId id="266" r:id="rId14"/>
    <p:sldId id="269" r:id="rId15"/>
    <p:sldId id="261" r:id="rId16"/>
    <p:sldId id="270" r:id="rId17"/>
    <p:sldId id="267" r:id="rId18"/>
    <p:sldId id="26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2F2F2"/>
    <a:srgbClr val="4A90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57E602-BE48-414B-A9CD-4310C1AA6E0E}" v="9" dt="2025-12-18T19:22:52.915"/>
    <p1510:client id="{F16EAFBE-291E-B379-1F17-0097E765E589}" v="609" dt="2025-12-18T23:02:35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6CC98-F2FB-4A02-B7AA-47456E3BA1D2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5A03B-DFEF-4BA1-98D8-554768CB19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98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62527/joiv.8.2.2299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oi.org/10.1016/j.ifacol.2025.09.279" TargetMode="External"/><Relationship Id="rId4" Type="http://schemas.openxmlformats.org/officeDocument/2006/relationships/hyperlink" Target="https://doi.org/10.54254/2755-2721/40/20230636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[1] Asmara, R.A. et al. 2024. An Experimental Study on Deep Learning Technique Implemented on Low Specification </a:t>
            </a:r>
            <a:r>
              <a:rPr lang="en-US" err="1"/>
              <a:t>OpenMV</a:t>
            </a:r>
            <a:r>
              <a:rPr lang="en-US"/>
              <a:t> Cam H7 Device. </a:t>
            </a:r>
            <a:r>
              <a:rPr lang="en-US" i="1"/>
              <a:t>JOIV : International Journal on Informatics Visualization</a:t>
            </a:r>
            <a:r>
              <a:rPr lang="en-US"/>
              <a:t>. 8, 2 (May 2024), 1017–1029. </a:t>
            </a:r>
            <a:r>
              <a:rPr lang="en-US">
                <a:hlinkClick r:id="rId3"/>
              </a:rPr>
              <a:t>https://doi.org/10.62527/joiv.8.2.2299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[2] Gui, Y. 2024. Edge impulse-based convolutional neural network for Hand Posture Recognition. </a:t>
            </a:r>
            <a:r>
              <a:rPr lang="en-US" i="1"/>
              <a:t>Applied and Computational Engineering</a:t>
            </a:r>
            <a:r>
              <a:rPr lang="en-US"/>
              <a:t>. 40, (Jan. 2024), 115–119. </a:t>
            </a:r>
            <a:r>
              <a:rPr lang="en-US">
                <a:hlinkClick r:id="rId4"/>
              </a:rPr>
              <a:t>https://doi.org/10.54254/2755-2721/40/20230636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[3] Saporiti, N. et al. 2025. Implementing an AI-Driven Gesture Recognition System in MES for Enhanced Efficiency and Human-Centric Operations in Industry 5.0. </a:t>
            </a:r>
            <a:r>
              <a:rPr lang="en-US" i="1"/>
              <a:t>IFAC-</a:t>
            </a:r>
            <a:r>
              <a:rPr lang="en-US" i="1" err="1"/>
              <a:t>PapersOnLine</a:t>
            </a:r>
            <a:r>
              <a:rPr lang="en-US"/>
              <a:t>. 59, 10 (Jan. 2025), 1660–1665. </a:t>
            </a:r>
            <a:r>
              <a:rPr lang="en-US">
                <a:hlinkClick r:id="rId5"/>
              </a:rPr>
              <a:t>https://doi.org/10.1016/j.ifacol.2025.09.279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A03B-DFEF-4BA1-98D8-554768CB19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423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For our methodology, we follow a simple end-to-end pipeline.</a:t>
            </a:r>
          </a:p>
          <a:p>
            <a:r>
              <a:rPr lang="en-US" altLang="zh-CN"/>
              <a:t>We first collect images for the three gesture classes using the </a:t>
            </a:r>
            <a:r>
              <a:rPr lang="en-US" altLang="zh-CN" err="1"/>
              <a:t>OpenMV</a:t>
            </a:r>
            <a:r>
              <a:rPr lang="en-US" altLang="zh-CN"/>
              <a:t> camera, and we also include some public data to make the dataset more diverse.</a:t>
            </a:r>
            <a:br>
              <a:rPr lang="en-US" altLang="zh-CN"/>
            </a:br>
            <a:r>
              <a:rPr lang="en-US" altLang="zh-CN"/>
              <a:t>Next, we upload everything to Edge Impulse and train a lightweight </a:t>
            </a:r>
            <a:r>
              <a:rPr lang="en-US" altLang="zh-CN" err="1"/>
              <a:t>MobileNet</a:t>
            </a:r>
            <a:r>
              <a:rPr lang="en-US" altLang="zh-CN"/>
              <a:t> model that can run on the microcontroller.</a:t>
            </a:r>
          </a:p>
          <a:p>
            <a:r>
              <a:rPr lang="en-US" altLang="zh-CN"/>
              <a:t>After the model is trained and quantized, we deploy it onto the </a:t>
            </a:r>
            <a:r>
              <a:rPr lang="en-US" altLang="zh-CN" err="1"/>
              <a:t>OpenMV</a:t>
            </a:r>
            <a:r>
              <a:rPr lang="en-US" altLang="zh-CN"/>
              <a:t> H7 board.</a:t>
            </a:r>
            <a:br>
              <a:rPr lang="en-US" altLang="zh-CN"/>
            </a:br>
            <a:r>
              <a:rPr lang="en-US" altLang="zh-CN"/>
              <a:t>The final step is real-time testing, where the board classifies each gesture live and maps it to different outputs—for example, a red signal for a fist, green for a palm, and blue for a pointing gesture.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A03B-DFEF-4BA1-98D8-554768CB19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93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3B988-58B5-9621-29BD-5CD1B61E0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44468-E186-284D-3F95-99A79529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2AF8E-F5EE-24C4-6D39-743FBA04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A625D-B959-AA66-F710-6AF1CB8F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A9BD2-CABF-7746-610A-FB37625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7369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2325D-DF9A-ED13-E355-BEA08338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288092-8AA4-1EA9-5BAC-A69BF87B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70B2C-A3E2-F24E-EF30-D5651A5D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A0F8E7-628C-B125-B098-217CBB6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D5458-2489-1516-094B-83C507F7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FCD40269-EEE0-1C2B-3A3F-8582915E33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553" y="136525"/>
            <a:ext cx="1612926" cy="90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001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24F3F-697D-F653-22E6-E8FDA0BE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ED1FF-4FD2-7BEA-EDA9-73C2AB070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301AB-6A4E-CAEE-E8A8-14F5991F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470B2-8D2F-51C1-1C2D-93032442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AB429C-5B05-C3AB-4662-9EFDB59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5846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9AD33-1C02-027D-109F-D3EA0915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0F0D3-5B1C-32C2-A67C-B95CFCDF8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0A5FF-A80B-3FFB-0ECC-97FBB584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B8107E-0327-CDBC-B1F3-71DD61F5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D9136D-9450-2FB8-F6F7-828DBE89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3C26E-F0CB-CCBA-6046-F3EB0A10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224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92F02-CFB3-720E-90EA-EF3694DB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C28795-C2C6-3E16-71D4-85953122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32BAA1-0666-8648-01F2-142E6F44A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885E57-CA4E-4BBD-9314-F4F55C2FB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E1688A-2405-5888-7257-049ED092A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18A2F5-474E-E8F5-65E5-91EE04D8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D5BA3E-F9E0-387D-8240-2EADCE20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85163C-F3B2-8A89-5651-5C48C659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9364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EC879-2C4F-D7AE-B38F-B63367FB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0DA683-7056-FCCB-EEE3-42C30CC8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6EAFC-6103-0453-E527-1BF7E561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AB5AEA-E66D-982D-66F9-CC67BE45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483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D2269B-A6DD-4FD1-1B17-061E0F88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7ADD97-FED7-A6B5-273E-65B48565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BA6EC6-9D4E-2F97-10E7-67EA1A04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8173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00F8E-73B2-98BA-8C22-3D4B4B968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82C0B-9B76-1FE2-BD3A-A07DC443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FE6705-5F8C-E0DB-4536-A75A01CF3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C00A34-D768-CD73-13F2-2565749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534090-3A3C-C211-519A-6B64E3A9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387CF-844F-AF04-92D8-856790F2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4571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06371-822A-4737-D801-00D0C8DC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53540E-67A5-30F0-1C14-8137248F2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DE1010-DB15-91FD-96C9-28DAF67D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D2EA1F-EDF8-FA4C-3DBC-988980C9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A9033-D13A-3B52-010F-258F88E3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08698-36D1-7664-B3AD-87AC2D63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55437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66400-865C-9A1F-5179-505F0FCD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1EEC64-7CBE-635D-F806-479AFEA4E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93B9D-96F1-E8ED-5D9A-96FB1E27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FB65-6631-3E81-9918-73CF0612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B2275-0336-1A09-A52F-7AA09B3B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16608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145480-0954-F073-64FA-6935DAC2C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DF01BE-F7CF-D418-B16D-135D91C90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A35536-DE0B-FE10-5C10-FCD0AB72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5AAB1C-1DAC-16A7-9E04-00516FF4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68D357-4ABE-837D-F9F4-FB7D942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791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80493D-02A9-E45C-092D-F96E4B9E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97A80-F13F-DB56-0567-B462A7D13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C7916-5093-1159-44D9-4D56A0977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8E26E-287E-4600-BA4D-0EE07620408F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2F740-9042-ED2E-3C61-987FB85A3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C8744-8306-2A29-1E72-D2F6C8EB2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7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54254/2755-2721/40/20230636" TargetMode="External"/><Relationship Id="rId2" Type="http://schemas.openxmlformats.org/officeDocument/2006/relationships/hyperlink" Target="https://doi.org/10.62527/joiv.8.2.229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ifacol.2025.09.27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6864E-6D46-D693-6F27-79ED47B07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491" y="688254"/>
            <a:ext cx="9809018" cy="2387600"/>
          </a:xfrm>
        </p:spPr>
        <p:txBody>
          <a:bodyPr>
            <a:normAutofit/>
          </a:bodyPr>
          <a:lstStyle/>
          <a:p>
            <a:r>
              <a:rPr lang="en-US" altLang="zh-CN" sz="4800">
                <a:latin typeface="Arial" panose="020B0604020202020204" pitchFamily="34" charset="0"/>
                <a:cs typeface="Arial" panose="020B0604020202020204" pitchFamily="34" charset="0"/>
              </a:rPr>
              <a:t>Hand Gesture Recognition on an Embedded Vision System</a:t>
            </a:r>
            <a:endParaRPr lang="zh-CN" altLang="en-US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01B4A2-FC17-C96E-6CBD-7634B77D3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7638"/>
            <a:ext cx="9144000" cy="1655762"/>
          </a:xfrm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Team: Tiny AI Hardware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Team Members: Yi Deng, Ziyu Xuan, Chance M Woosley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568BA6F3-1DCA-4EA9-8C1E-E64DC75FC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647" y="154511"/>
            <a:ext cx="1531536" cy="86148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302D2-AFE1-ACE6-88F7-CBA3E107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</a:t>
            </a:fld>
            <a:endParaRPr lang="zh-CN" altLang="en-US"/>
          </a:p>
        </p:txBody>
      </p:sp>
      <p:pic>
        <p:nvPicPr>
          <p:cNvPr id="9" name="音频 8">
            <a:hlinkClick r:id="" action="ppaction://media"/>
            <a:extLst>
              <a:ext uri="{FF2B5EF4-FFF2-40B4-BE49-F238E27FC236}">
                <a16:creationId xmlns:a16="http://schemas.microsoft.com/office/drawing/2014/main" id="{935CE220-E4E8-2C0A-A46E-3EE8003E63C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3764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A3E0F3D-4247-CC25-58AF-6B80178534EC}"/>
              </a:ext>
            </a:extLst>
          </p:cNvPr>
          <p:cNvSpPr txBox="1"/>
          <p:nvPr/>
        </p:nvSpPr>
        <p:spPr>
          <a:xfrm>
            <a:off x="843642" y="667568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3D9C32-71FA-7BBE-3E91-AD9D99E589F9}"/>
              </a:ext>
            </a:extLst>
          </p:cNvPr>
          <p:cNvSpPr txBox="1"/>
          <p:nvPr/>
        </p:nvSpPr>
        <p:spPr>
          <a:xfrm>
            <a:off x="843642" y="1700892"/>
            <a:ext cx="9851571" cy="4536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Goal: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Implement a hand-gesture recognition system with embedded hardware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Expected Results: 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Successful recognition of three different gestures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Evaluation: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Recognizing training dataset with 9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0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% accuracy or above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.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Recognizing Real-time gestures with 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85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% accuracy or above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542C6D-8F4A-3DFE-ABE4-4FEF6B24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7" name="音频 6">
            <a:hlinkClick r:id="" action="ppaction://media"/>
            <a:extLst>
              <a:ext uri="{FF2B5EF4-FFF2-40B4-BE49-F238E27FC236}">
                <a16:creationId xmlns:a16="http://schemas.microsoft.com/office/drawing/2014/main" id="{39E743C4-C898-447F-996E-1AA4C63F64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77136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B7BE1-24FC-FF89-107A-80DBE4F0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400" b="1">
                <a:latin typeface="Arial"/>
                <a:ea typeface="等线 Light"/>
                <a:cs typeface="Arial"/>
              </a:rPr>
              <a:t>Related Work</a:t>
            </a:r>
            <a:endParaRPr lang="zh-CN" altLang="en-US" sz="3400" b="1">
              <a:latin typeface="Arial"/>
              <a:ea typeface="等线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596D-9A70-2615-12F5-C1E6C1B8A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81575"/>
          </a:xfrm>
        </p:spPr>
        <p:txBody>
          <a:bodyPr>
            <a:normAutofit/>
          </a:bodyPr>
          <a:lstStyle/>
          <a:p>
            <a:r>
              <a:rPr lang="en-US" sz="2200">
                <a:latin typeface="Aptos" panose="020B0004020202020204" pitchFamily="34" charset="0"/>
              </a:rPr>
              <a:t>“</a:t>
            </a:r>
            <a:r>
              <a:rPr lang="en-US" sz="2200" b="1">
                <a:latin typeface="Aptos" panose="020B0004020202020204" pitchFamily="34" charset="0"/>
              </a:rPr>
              <a:t>Edge impulse-based convolutional neural network for Hand Posture Recognition</a:t>
            </a:r>
            <a:r>
              <a:rPr lang="en-US" sz="2200">
                <a:latin typeface="Aptos" panose="020B0004020202020204" pitchFamily="34" charset="0"/>
              </a:rPr>
              <a:t>”[2] used edge impulse to train a variety of models on six different hand gestures. They found that MobileNetV2 was the most accurate model, although it used the most flash and ram memory.</a:t>
            </a:r>
          </a:p>
          <a:p>
            <a:r>
              <a:rPr lang="en-US" sz="2200">
                <a:latin typeface="Aptos" panose="020B0004020202020204" pitchFamily="34" charset="0"/>
              </a:rPr>
              <a:t>“</a:t>
            </a:r>
            <a:r>
              <a:rPr lang="en-US" sz="2200" b="1">
                <a:latin typeface="Aptos" panose="020B0004020202020204" pitchFamily="34" charset="0"/>
              </a:rPr>
              <a:t>Implementing an AI-Driven Gesture Recognition System in MES for Enhanced Efficiency and Human-Centric Operations in Industry 5.0</a:t>
            </a:r>
            <a:r>
              <a:rPr lang="en-US" sz="2200">
                <a:latin typeface="Aptos" panose="020B0004020202020204" pitchFamily="34" charset="0"/>
              </a:rPr>
              <a:t>” [3] used a camera with OpenCV to recognize live hand gestures made by workers. They relied on geometry and deterministic rules instead of neural networks</a:t>
            </a:r>
          </a:p>
          <a:p>
            <a:r>
              <a:rPr lang="en-US" sz="2200">
                <a:latin typeface="Aptos" panose="020B0004020202020204" pitchFamily="34" charset="0"/>
              </a:rPr>
              <a:t>“</a:t>
            </a:r>
            <a:r>
              <a:rPr lang="en-US" sz="2200" b="1">
                <a:latin typeface="Aptos" panose="020B0004020202020204" pitchFamily="34" charset="0"/>
              </a:rPr>
              <a:t>An Experimental Study on Deep Learning Technique Implemented on Low Specification </a:t>
            </a:r>
            <a:r>
              <a:rPr lang="en-US" sz="2200" b="1" err="1">
                <a:latin typeface="Aptos" panose="020B0004020202020204" pitchFamily="34" charset="0"/>
              </a:rPr>
              <a:t>OpenMV</a:t>
            </a:r>
            <a:r>
              <a:rPr lang="en-US" sz="2200" b="1">
                <a:latin typeface="Aptos" panose="020B0004020202020204" pitchFamily="34" charset="0"/>
              </a:rPr>
              <a:t> Cam H7 Device</a:t>
            </a:r>
            <a:r>
              <a:rPr lang="en-US" sz="2200">
                <a:latin typeface="Aptos" panose="020B0004020202020204" pitchFamily="34" charset="0"/>
              </a:rPr>
              <a:t>”[1] studies the limits of the </a:t>
            </a:r>
            <a:r>
              <a:rPr lang="en-US" sz="2200" err="1">
                <a:latin typeface="Aptos" panose="020B0004020202020204" pitchFamily="34" charset="0"/>
              </a:rPr>
              <a:t>OpenMC</a:t>
            </a:r>
            <a:r>
              <a:rPr lang="en-US" sz="2200">
                <a:latin typeface="Aptos" panose="020B0004020202020204" pitchFamily="34" charset="0"/>
              </a:rPr>
              <a:t> Cam H7 device for running CNNs and how effective CNN deployments on the device are for different applications</a:t>
            </a:r>
          </a:p>
          <a:p>
            <a:r>
              <a:rPr lang="en-US" sz="2200">
                <a:latin typeface="Aptos" panose="020B0004020202020204" pitchFamily="34" charset="0"/>
              </a:rPr>
              <a:t>These sources provide examples of our tools in use, explain benefits and drawbacks of each, and show that our approach is logical</a:t>
            </a:r>
          </a:p>
          <a:p>
            <a:pPr marL="0" indent="0">
              <a:buNone/>
            </a:pPr>
            <a:endParaRPr lang="en-US" sz="2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9F1D7-639B-47E1-2AD7-64CAD7D2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8" name="音频 7">
            <a:hlinkClick r:id="" action="ppaction://media"/>
            <a:extLst>
              <a:ext uri="{FF2B5EF4-FFF2-40B4-BE49-F238E27FC236}">
                <a16:creationId xmlns:a16="http://schemas.microsoft.com/office/drawing/2014/main" id="{9B2ECD53-F978-7621-57D5-E35B74DB88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3518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94EF57-5FC3-F095-130E-BF2E88FCC00F}"/>
              </a:ext>
            </a:extLst>
          </p:cNvPr>
          <p:cNvSpPr txBox="1"/>
          <p:nvPr/>
        </p:nvSpPr>
        <p:spPr>
          <a:xfrm>
            <a:off x="923634" y="646547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1ACDBB-8D27-0C49-5737-34A1EBC01CCF}"/>
              </a:ext>
            </a:extLst>
          </p:cNvPr>
          <p:cNvSpPr txBox="1"/>
          <p:nvPr/>
        </p:nvSpPr>
        <p:spPr>
          <a:xfrm>
            <a:off x="905278" y="2035493"/>
            <a:ext cx="5724387" cy="2597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/>
                <a:ea typeface="等线"/>
                <a:cs typeface="Arial"/>
              </a:rPr>
              <a:t>Hardware: OpenMV H7 </a:t>
            </a:r>
            <a:r>
              <a:rPr lang="en-US" altLang="zh-CN" sz="2800">
                <a:latin typeface="Arial"/>
                <a:ea typeface="等线"/>
                <a:cs typeface="Arial"/>
              </a:rPr>
              <a:t>Plus</a:t>
            </a:r>
            <a:endParaRPr lang="zh-CN" altLang="en-US" sz="2800">
              <a:latin typeface="Arial"/>
              <a:ea typeface="等线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Input device: Camera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Output: RGB LED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/>
                <a:ea typeface="等线"/>
                <a:cs typeface="Arial"/>
              </a:rPr>
              <a:t>Training Platform: Edge Impulse</a:t>
            </a:r>
          </a:p>
        </p:txBody>
      </p:sp>
      <p:pic>
        <p:nvPicPr>
          <p:cNvPr id="1026" name="Picture 2" descr="OpenMV Cam H7 Plus">
            <a:extLst>
              <a:ext uri="{FF2B5EF4-FFF2-40B4-BE49-F238E27FC236}">
                <a16:creationId xmlns:a16="http://schemas.microsoft.com/office/drawing/2014/main" id="{EF1678A3-4BFA-0CF1-37AD-ECE427D4B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180" y="1490498"/>
            <a:ext cx="3687818" cy="368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DD3FFC-3CEF-9271-9C6D-1930BEBD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4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27B3-3072-5162-4F72-F464CEC9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rial"/>
                <a:cs typeface="Arial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6D13-2FE7-B937-4790-B921E71F3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Hand gestures provide a natural, touch-free interface for embedded systems</a:t>
            </a:r>
          </a:p>
          <a:p>
            <a:r>
              <a:rPr lang="en-US">
                <a:latin typeface="Aptos" panose="020B0004020202020204" pitchFamily="34" charset="0"/>
              </a:rPr>
              <a:t>Running ML directly on-device reduces latency, power, and privacy concerns</a:t>
            </a:r>
          </a:p>
          <a:p>
            <a:r>
              <a:rPr lang="en-US">
                <a:latin typeface="Aptos" panose="020B0004020202020204" pitchFamily="34" charset="0"/>
              </a:rPr>
              <a:t>Demonstrates that deep learning is feasible on low-resource microcontrollers</a:t>
            </a:r>
          </a:p>
          <a:p>
            <a:r>
              <a:rPr lang="en-US">
                <a:latin typeface="Aptos" panose="020B0004020202020204" pitchFamily="34" charset="0"/>
              </a:rPr>
              <a:t>Practical relevance to HCI, accessibility, robotics, and IoT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FD77B-2664-6E6B-7733-56E0F0EE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244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B4557-E0D3-675D-BD42-1C894AF9E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rial"/>
                <a:cs typeface="Arial"/>
              </a:rPr>
              <a:t>Team &amp; Technical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CA8F6-B0B2-2D59-983E-C7320A11E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Aptos" panose="020B0004020202020204" pitchFamily="34" charset="0"/>
              </a:rPr>
              <a:t>Chance Woosley – M.E. computer engineering – experience with high-level programming languages and embedded computing </a:t>
            </a:r>
          </a:p>
          <a:p>
            <a:pPr marL="0" indent="0">
              <a:buNone/>
            </a:pP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altLang="zh-CN">
                <a:latin typeface="Arial"/>
                <a:cs typeface="Arial"/>
              </a:rPr>
              <a:t>Ziyu Xuan - - </a:t>
            </a:r>
            <a:endParaRPr lang="zh-CN" altLang="en-US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altLang="zh-CN">
                <a:latin typeface="Arial"/>
                <a:ea typeface="等线"/>
                <a:cs typeface="Arial"/>
              </a:rPr>
              <a:t>Yi Deng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en-US" altLang="zh-CN">
                <a:latin typeface="Arial"/>
                <a:ea typeface="等线"/>
                <a:cs typeface="Arial"/>
              </a:rPr>
              <a:t>-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en-US" altLang="zh-CN">
                <a:latin typeface="Arial"/>
                <a:ea typeface="等线"/>
                <a:cs typeface="Arial"/>
              </a:rPr>
              <a:t>- </a:t>
            </a:r>
            <a:r>
              <a:rPr lang="en-US">
                <a:latin typeface="Aptos"/>
                <a:cs typeface="Arial"/>
              </a:rPr>
              <a:t>M.E. computer engineering – experience with deep learning and cloud-edge computing</a:t>
            </a:r>
            <a:endParaRPr lang="en-US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BF926-902B-68DB-AFDF-C7AAE313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967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57756A-5C2C-F4B7-28EE-A02680957540}"/>
              </a:ext>
            </a:extLst>
          </p:cNvPr>
          <p:cNvSpPr txBox="1"/>
          <p:nvPr/>
        </p:nvSpPr>
        <p:spPr>
          <a:xfrm>
            <a:off x="923634" y="646547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Team Roles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E57051-DA33-FECA-A8EC-98E358565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45325"/>
              </p:ext>
            </p:extLst>
          </p:nvPr>
        </p:nvGraphicFramePr>
        <p:xfrm>
          <a:off x="1463963" y="2086648"/>
          <a:ext cx="911629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764">
                  <a:extLst>
                    <a:ext uri="{9D8B030D-6E8A-4147-A177-3AD203B41FA5}">
                      <a16:colId xmlns:a16="http://schemas.microsoft.com/office/drawing/2014/main" val="592852020"/>
                    </a:ext>
                  </a:extLst>
                </a:gridCol>
                <a:gridCol w="3038764">
                  <a:extLst>
                    <a:ext uri="{9D8B030D-6E8A-4147-A177-3AD203B41FA5}">
                      <a16:colId xmlns:a16="http://schemas.microsoft.com/office/drawing/2014/main" val="26992004"/>
                    </a:ext>
                  </a:extLst>
                </a:gridCol>
                <a:gridCol w="3038764">
                  <a:extLst>
                    <a:ext uri="{9D8B030D-6E8A-4147-A177-3AD203B41FA5}">
                      <a16:colId xmlns:a16="http://schemas.microsoft.com/office/drawing/2014/main" val="354492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Member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Roles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Responsibilities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45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Yi Deng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&amp; Model </a:t>
                      </a:r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Dataset collection, public dataset integration, EI training &amp; tuning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49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Ziyu Xuan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Embedded System</a:t>
                      </a:r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Deployment, inference code,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8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Chance M Woosley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Testing &amp; Documentation 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Performance Evaluation, Report writing, </a:t>
                      </a:r>
                      <a:r>
                        <a:rPr lang="en-US" altLang="zh-CN" sz="2000">
                          <a:latin typeface="Arial"/>
                          <a:cs typeface="Arial"/>
                        </a:rPr>
                        <a:t>GitHub management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95194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DEF86F-79EC-FFE4-EE1A-7AA7FAD9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12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D19279-A142-4C04-8238-FC0BE854DB9D}"/>
              </a:ext>
            </a:extLst>
          </p:cNvPr>
          <p:cNvSpPr txBox="1"/>
          <p:nvPr/>
        </p:nvSpPr>
        <p:spPr>
          <a:xfrm>
            <a:off x="803561" y="637311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180B024-39AF-E7E6-BA97-5B5A2369E0C5}"/>
              </a:ext>
            </a:extLst>
          </p:cNvPr>
          <p:cNvSpPr/>
          <p:nvPr/>
        </p:nvSpPr>
        <p:spPr>
          <a:xfrm>
            <a:off x="803561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BFB096-0C5B-C639-1CAB-6D459EB039D7}"/>
              </a:ext>
            </a:extLst>
          </p:cNvPr>
          <p:cNvSpPr/>
          <p:nvPr/>
        </p:nvSpPr>
        <p:spPr>
          <a:xfrm>
            <a:off x="2817090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err="1">
                <a:latin typeface="Arial" panose="020B0604020202020204" pitchFamily="34" charset="0"/>
                <a:cs typeface="Arial" panose="020B0604020202020204" pitchFamily="34" charset="0"/>
              </a:rPr>
              <a:t>MobileNet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V2 Model Training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928DA-EAA7-7423-1348-0DC19C4CAC33}"/>
              </a:ext>
            </a:extLst>
          </p:cNvPr>
          <p:cNvSpPr/>
          <p:nvPr/>
        </p:nvSpPr>
        <p:spPr>
          <a:xfrm>
            <a:off x="4830619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FA7E995-125B-0BB7-0E5C-3C0AC04C864C}"/>
              </a:ext>
            </a:extLst>
          </p:cNvPr>
          <p:cNvSpPr/>
          <p:nvPr/>
        </p:nvSpPr>
        <p:spPr>
          <a:xfrm>
            <a:off x="6844148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Real-time Testing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EF2CD38-2544-F4F8-C130-E79A0B8E8256}"/>
              </a:ext>
            </a:extLst>
          </p:cNvPr>
          <p:cNvSpPr/>
          <p:nvPr/>
        </p:nvSpPr>
        <p:spPr>
          <a:xfrm>
            <a:off x="2327562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9A5B8AA-854D-F425-CE0B-994C3F494540}"/>
              </a:ext>
            </a:extLst>
          </p:cNvPr>
          <p:cNvSpPr/>
          <p:nvPr/>
        </p:nvSpPr>
        <p:spPr>
          <a:xfrm>
            <a:off x="4331855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5CC0C0ED-CD55-8F51-35C3-17DBFF374BC4}"/>
              </a:ext>
            </a:extLst>
          </p:cNvPr>
          <p:cNvSpPr/>
          <p:nvPr/>
        </p:nvSpPr>
        <p:spPr>
          <a:xfrm>
            <a:off x="6345384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C35B112F-305A-EA58-E868-54A380412564}"/>
              </a:ext>
            </a:extLst>
          </p:cNvPr>
          <p:cNvSpPr/>
          <p:nvPr/>
        </p:nvSpPr>
        <p:spPr>
          <a:xfrm rot="19005209">
            <a:off x="8437421" y="2535478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C137EAFE-443D-320A-FF8C-94AD377599CD}"/>
              </a:ext>
            </a:extLst>
          </p:cNvPr>
          <p:cNvSpPr/>
          <p:nvPr/>
        </p:nvSpPr>
        <p:spPr>
          <a:xfrm>
            <a:off x="8445631" y="3223492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283B867-8549-80D3-6C2F-1228ECF92A46}"/>
              </a:ext>
            </a:extLst>
          </p:cNvPr>
          <p:cNvSpPr/>
          <p:nvPr/>
        </p:nvSpPr>
        <p:spPr>
          <a:xfrm rot="1682469">
            <a:off x="8437421" y="4064316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272CD3E-22EF-9A73-312E-87CC9DF69D0A}"/>
              </a:ext>
            </a:extLst>
          </p:cNvPr>
          <p:cNvSpPr/>
          <p:nvPr/>
        </p:nvSpPr>
        <p:spPr>
          <a:xfrm>
            <a:off x="8944395" y="1893455"/>
            <a:ext cx="152938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Fist: red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9120236-631B-86B7-4255-C020012180F9}"/>
              </a:ext>
            </a:extLst>
          </p:cNvPr>
          <p:cNvSpPr/>
          <p:nvPr/>
        </p:nvSpPr>
        <p:spPr>
          <a:xfrm>
            <a:off x="8959015" y="2984453"/>
            <a:ext cx="151476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latin typeface="Arial"/>
                <a:ea typeface="等线"/>
                <a:cs typeface="Arial"/>
              </a:rPr>
              <a:t>Palm: green</a:t>
            </a:r>
            <a:endParaRPr lang="zh-CN" altLang="en-US">
              <a:latin typeface="Arial"/>
              <a:ea typeface="等线"/>
              <a:cs typeface="Arial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D98DF2F-A250-8699-CC95-70B27C1EE7AA}"/>
              </a:ext>
            </a:extLst>
          </p:cNvPr>
          <p:cNvSpPr/>
          <p:nvPr/>
        </p:nvSpPr>
        <p:spPr>
          <a:xfrm>
            <a:off x="8959015" y="4075451"/>
            <a:ext cx="151476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Pointing: blue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ABDB8B-EB63-251B-E929-28F61388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710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C72E5-9E2C-B85E-D014-50938090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400" b="1">
                <a:latin typeface="Arial"/>
                <a:ea typeface="等线"/>
                <a:cs typeface="Arial"/>
              </a:rPr>
              <a:t>Datasets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AE3AB-5EE2-BD43-EAC2-8A97BB5871B1}"/>
              </a:ext>
            </a:extLst>
          </p:cNvPr>
          <p:cNvSpPr txBox="1"/>
          <p:nvPr/>
        </p:nvSpPr>
        <p:spPr>
          <a:xfrm>
            <a:off x="1037895" y="1924626"/>
            <a:ext cx="499382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Rock-Paper-Scissor Datase</a:t>
            </a:r>
            <a:r>
              <a:rPr lang="en-US" altLang="zh-CN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2E868D-7567-29FC-5FCE-F94595626257}"/>
              </a:ext>
            </a:extLst>
          </p:cNvPr>
          <p:cNvSpPr txBox="1"/>
          <p:nvPr/>
        </p:nvSpPr>
        <p:spPr>
          <a:xfrm>
            <a:off x="7302044" y="1924626"/>
            <a:ext cx="352361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Our own recorded Dataset</a:t>
            </a:r>
          </a:p>
        </p:txBody>
      </p:sp>
      <p:pic>
        <p:nvPicPr>
          <p:cNvPr id="6" name="图片 5" descr="手上戴着戒指&#10;&#10;AI 生成的内容可能不正确。">
            <a:extLst>
              <a:ext uri="{FF2B5EF4-FFF2-40B4-BE49-F238E27FC236}">
                <a16:creationId xmlns:a16="http://schemas.microsoft.com/office/drawing/2014/main" id="{C154D846-74F2-001B-8B5D-D687098FC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72" y="3020339"/>
            <a:ext cx="1490847" cy="1490847"/>
          </a:xfrm>
          <a:prstGeom prst="rect">
            <a:avLst/>
          </a:prstGeom>
        </p:spPr>
      </p:pic>
      <p:pic>
        <p:nvPicPr>
          <p:cNvPr id="8" name="图片 7" descr="人的手&#10;&#10;AI 生成的内容可能不正确。">
            <a:extLst>
              <a:ext uri="{FF2B5EF4-FFF2-40B4-BE49-F238E27FC236}">
                <a16:creationId xmlns:a16="http://schemas.microsoft.com/office/drawing/2014/main" id="{F66913EA-2416-F2B4-9D76-25B653A12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72" y="2746283"/>
            <a:ext cx="1764903" cy="1764903"/>
          </a:xfrm>
          <a:prstGeom prst="rect">
            <a:avLst/>
          </a:prstGeom>
        </p:spPr>
      </p:pic>
      <p:pic>
        <p:nvPicPr>
          <p:cNvPr id="10" name="图片 9" descr="人的手&#10;&#10;AI 生成的内容可能不正确。">
            <a:extLst>
              <a:ext uri="{FF2B5EF4-FFF2-40B4-BE49-F238E27FC236}">
                <a16:creationId xmlns:a16="http://schemas.microsoft.com/office/drawing/2014/main" id="{4E57073F-FFD2-6B75-ADEE-2C81BEF57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13" y="2933919"/>
            <a:ext cx="1577267" cy="1577267"/>
          </a:xfrm>
          <a:prstGeom prst="rect">
            <a:avLst/>
          </a:prstGeom>
        </p:spPr>
      </p:pic>
      <p:pic>
        <p:nvPicPr>
          <p:cNvPr id="12" name="图片 11" descr="人的手&#10;&#10;AI 生成的内容可能不正确。">
            <a:extLst>
              <a:ext uri="{FF2B5EF4-FFF2-40B4-BE49-F238E27FC236}">
                <a16:creationId xmlns:a16="http://schemas.microsoft.com/office/drawing/2014/main" id="{0581C085-C964-04D8-1EE8-CF2A2E517A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19" y="3170251"/>
            <a:ext cx="1677723" cy="1258292"/>
          </a:xfrm>
          <a:prstGeom prst="rect">
            <a:avLst/>
          </a:prstGeom>
        </p:spPr>
      </p:pic>
      <p:pic>
        <p:nvPicPr>
          <p:cNvPr id="7" name="图片 6" descr="人的手&#10;&#10;AI 生成的内容可能不正确。">
            <a:extLst>
              <a:ext uri="{FF2B5EF4-FFF2-40B4-BE49-F238E27FC236}">
                <a16:creationId xmlns:a16="http://schemas.microsoft.com/office/drawing/2014/main" id="{04C5AEB3-AC60-28E5-2FAD-CC57D21D8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174" y="3185623"/>
            <a:ext cx="1677723" cy="1258292"/>
          </a:xfrm>
          <a:prstGeom prst="rect">
            <a:avLst/>
          </a:prstGeom>
        </p:spPr>
      </p:pic>
      <p:pic>
        <p:nvPicPr>
          <p:cNvPr id="11" name="图片 10" descr="人的手&#10;&#10;AI 生成的内容可能不正确。">
            <a:extLst>
              <a:ext uri="{FF2B5EF4-FFF2-40B4-BE49-F238E27FC236}">
                <a16:creationId xmlns:a16="http://schemas.microsoft.com/office/drawing/2014/main" id="{4C7C95F9-F9B3-F80D-5C8A-D27A7776B3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59" y="3185137"/>
            <a:ext cx="1677722" cy="125829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25B9FF-516C-0552-5F94-A7829C6F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0D5D3A-B6B4-7DA9-C4DD-EA7EEC5B82C8}"/>
              </a:ext>
            </a:extLst>
          </p:cNvPr>
          <p:cNvSpPr txBox="1"/>
          <p:nvPr/>
        </p:nvSpPr>
        <p:spPr>
          <a:xfrm>
            <a:off x="1790603" y="5093431"/>
            <a:ext cx="212238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/>
                <a:ea typeface="等线"/>
                <a:cs typeface="Arial"/>
              </a:rPr>
              <a:t>~2850 pictures</a:t>
            </a:r>
            <a:endParaRPr lang="zh-CN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4497E1-FAD1-D4F9-E501-F889850D7D86}"/>
              </a:ext>
            </a:extLst>
          </p:cNvPr>
          <p:cNvSpPr txBox="1"/>
          <p:nvPr/>
        </p:nvSpPr>
        <p:spPr>
          <a:xfrm>
            <a:off x="7747212" y="5093431"/>
            <a:ext cx="2475504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/>
                <a:ea typeface="等线"/>
                <a:cs typeface="Arial"/>
              </a:rPr>
              <a:t>~150 pictures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20831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7172-01CA-2BC0-12E0-B634393A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rial"/>
                <a:cs typeface="Arial"/>
              </a:rPr>
              <a:t>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58874-BABB-7F38-B086-41540B47A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Ran gesture recognition on live gestures, rather than static datasets</a:t>
            </a:r>
          </a:p>
          <a:p>
            <a:r>
              <a:rPr lang="en-US">
                <a:latin typeface="Aptos" panose="020B0004020202020204" pitchFamily="34" charset="0"/>
              </a:rPr>
              <a:t>Live gesture-to-hardware mapping with no external compute or cloud dependency </a:t>
            </a:r>
          </a:p>
          <a:p>
            <a:r>
              <a:rPr lang="en-US">
                <a:latin typeface="Aptos" panose="020B0004020202020204" pitchFamily="34" charset="0"/>
              </a:rPr>
              <a:t>Hybrid on-board camera/public images dataset to improve model robustness</a:t>
            </a:r>
          </a:p>
          <a:p>
            <a:r>
              <a:rPr lang="en-US">
                <a:latin typeface="Aptos" panose="020B0004020202020204" pitchFamily="34" charset="0"/>
              </a:rPr>
              <a:t>End-to-end on-device vision pipeline, data collection, training, deployment, inference, testing, all on single low-resource MCU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7751-987D-AE1A-D844-A642466A9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976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974A5-988B-CAD8-B74D-8A8B7905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741A13-610B-F66E-8580-AB7740101493}"/>
              </a:ext>
            </a:extLst>
          </p:cNvPr>
          <p:cNvSpPr txBox="1"/>
          <p:nvPr/>
        </p:nvSpPr>
        <p:spPr>
          <a:xfrm>
            <a:off x="785090" y="683492"/>
            <a:ext cx="7234324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3400" b="1">
                <a:latin typeface="Arial"/>
                <a:ea typeface="等线"/>
                <a:cs typeface="Arial"/>
              </a:rPr>
              <a:t>Edge Impulse Training Results</a:t>
            </a:r>
            <a:endParaRPr lang="zh-CN" altLang="en-US" sz="3400" b="1">
              <a:latin typeface="Arial"/>
              <a:ea typeface="等线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B7FA61-5C9B-0DF6-B3EC-9D71F9860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10" name="图片 9" descr="日程表&#10;&#10;AI 生成的内容可能不正确。">
            <a:extLst>
              <a:ext uri="{FF2B5EF4-FFF2-40B4-BE49-F238E27FC236}">
                <a16:creationId xmlns:a16="http://schemas.microsoft.com/office/drawing/2014/main" id="{6BD46371-85A8-66C3-A0DE-5BDD90B9C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4" y="1897797"/>
            <a:ext cx="4845904" cy="38615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D74F755-15A6-D629-7F40-62BB7B95D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549" y="2022320"/>
            <a:ext cx="5265002" cy="362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57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D57A-91DB-6252-FBC5-4FEF235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2177749C-86FE-91B7-5173-D6BCB388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505" y="2676291"/>
            <a:ext cx="3163088" cy="234175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BCDD726-107F-8935-76A8-B8C1B5436C63}"/>
              </a:ext>
            </a:extLst>
          </p:cNvPr>
          <p:cNvSpPr txBox="1"/>
          <p:nvPr/>
        </p:nvSpPr>
        <p:spPr>
          <a:xfrm>
            <a:off x="785090" y="683492"/>
            <a:ext cx="5366496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3400" b="1">
                <a:latin typeface="Arial"/>
                <a:ea typeface="等线"/>
                <a:cs typeface="Arial"/>
              </a:rPr>
              <a:t>Implementation Result</a:t>
            </a:r>
            <a:r>
              <a:rPr lang="en-US" altLang="zh-CN" sz="3400" b="1" dirty="0">
                <a:latin typeface="Arial"/>
                <a:ea typeface="等线"/>
                <a:cs typeface="Arial"/>
              </a:rPr>
              <a:t>s</a:t>
            </a:r>
            <a:endParaRPr lang="zh-CN" altLang="en-US" sz="3400" b="1">
              <a:latin typeface="Arial"/>
              <a:ea typeface="等线"/>
              <a:cs typeface="Arial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10A78A-269B-3054-40D1-1DB7FF55B88A}"/>
              </a:ext>
            </a:extLst>
          </p:cNvPr>
          <p:cNvSpPr txBox="1"/>
          <p:nvPr/>
        </p:nvSpPr>
        <p:spPr>
          <a:xfrm>
            <a:off x="1361292" y="1718188"/>
            <a:ext cx="122843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800">
                <a:latin typeface="Arial"/>
                <a:ea typeface="等线"/>
                <a:cs typeface="Arial"/>
              </a:rPr>
              <a:t>palm</a:t>
            </a:r>
            <a:endParaRPr lang="zh-CN" altLang="en-US" sz="2400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94FCC1-2650-341E-0550-3E24D0D250C7}"/>
              </a:ext>
            </a:extLst>
          </p:cNvPr>
          <p:cNvSpPr txBox="1"/>
          <p:nvPr/>
        </p:nvSpPr>
        <p:spPr>
          <a:xfrm>
            <a:off x="5613962" y="1708895"/>
            <a:ext cx="78047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800">
                <a:latin typeface="Arial"/>
                <a:ea typeface="等线"/>
                <a:cs typeface="Arial"/>
              </a:rPr>
              <a:t>fist</a:t>
            </a:r>
            <a:endParaRPr lang="zh-CN" altLang="en-US" sz="2800">
              <a:latin typeface="Arial"/>
              <a:ea typeface="等线"/>
              <a:cs typeface="Arial"/>
            </a:endParaRPr>
          </a:p>
        </p:txBody>
      </p:sp>
      <p:pic>
        <p:nvPicPr>
          <p:cNvPr id="6" name="图片 5" descr="人的手&#10;&#10;AI 生成的内容可能不正确。">
            <a:extLst>
              <a:ext uri="{FF2B5EF4-FFF2-40B4-BE49-F238E27FC236}">
                <a16:creationId xmlns:a16="http://schemas.microsoft.com/office/drawing/2014/main" id="{08C610D9-6D90-5FF1-31C5-CC1462072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40" y="2673337"/>
            <a:ext cx="3053307" cy="2344611"/>
          </a:xfrm>
          <a:prstGeom prst="rect">
            <a:avLst/>
          </a:prstGeom>
        </p:spPr>
      </p:pic>
      <p:pic>
        <p:nvPicPr>
          <p:cNvPr id="8" name="图片 7" descr="图片包含 人, 男人, 年轻, 女人&#10;&#10;AI 生成的内容可能不正确。">
            <a:extLst>
              <a:ext uri="{FF2B5EF4-FFF2-40B4-BE49-F238E27FC236}">
                <a16:creationId xmlns:a16="http://schemas.microsoft.com/office/drawing/2014/main" id="{14AC7012-381A-3142-982C-D1D83F245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41842" y="2268926"/>
            <a:ext cx="2331380" cy="3153429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4084C4-7F67-3DB0-DD05-E5B7F164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560A0B-B1F0-2992-CE5B-BD6F2B218A20}"/>
              </a:ext>
            </a:extLst>
          </p:cNvPr>
          <p:cNvSpPr txBox="1"/>
          <p:nvPr/>
        </p:nvSpPr>
        <p:spPr>
          <a:xfrm>
            <a:off x="9182352" y="1718188"/>
            <a:ext cx="158893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2800">
                <a:latin typeface="Arial"/>
                <a:ea typeface="等线"/>
                <a:cs typeface="Arial"/>
              </a:rPr>
              <a:t>pointing</a:t>
            </a:r>
            <a:endParaRPr lang="zh-CN" sz="2800">
              <a:ea typeface="等线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08806B0-ACAC-B313-0682-4C05B600DDB0}"/>
              </a:ext>
            </a:extLst>
          </p:cNvPr>
          <p:cNvCxnSpPr/>
          <p:nvPr/>
        </p:nvCxnSpPr>
        <p:spPr>
          <a:xfrm flipH="1" flipV="1">
            <a:off x="1337156" y="4488489"/>
            <a:ext cx="702402" cy="1372344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98332B8-126C-84E0-6D5D-F398956CAD23}"/>
              </a:ext>
            </a:extLst>
          </p:cNvPr>
          <p:cNvCxnSpPr>
            <a:cxnSpLocks/>
          </p:cNvCxnSpPr>
          <p:nvPr/>
        </p:nvCxnSpPr>
        <p:spPr>
          <a:xfrm flipH="1" flipV="1">
            <a:off x="5221498" y="4395562"/>
            <a:ext cx="702402" cy="1372344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048EE4A-0C37-6825-D579-63BDCFB0FDA4}"/>
              </a:ext>
            </a:extLst>
          </p:cNvPr>
          <p:cNvSpPr txBox="1"/>
          <p:nvPr/>
        </p:nvSpPr>
        <p:spPr>
          <a:xfrm>
            <a:off x="1600820" y="5887473"/>
            <a:ext cx="1178932" cy="4709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latin typeface="Arial"/>
                <a:ea typeface="等线"/>
                <a:cs typeface="Arial"/>
              </a:rPr>
              <a:t>green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F4EC6A-5053-6D80-2F87-CCE106C229E3}"/>
              </a:ext>
            </a:extLst>
          </p:cNvPr>
          <p:cNvSpPr txBox="1"/>
          <p:nvPr/>
        </p:nvSpPr>
        <p:spPr>
          <a:xfrm>
            <a:off x="5568795" y="5794546"/>
            <a:ext cx="1178932" cy="4709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400">
                <a:latin typeface="Arial"/>
                <a:ea typeface="等线"/>
                <a:cs typeface="Arial"/>
              </a:rPr>
              <a:t>red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796BE1-2B56-C082-F88B-722B2C6BC97C}"/>
              </a:ext>
            </a:extLst>
          </p:cNvPr>
          <p:cNvSpPr txBox="1"/>
          <p:nvPr/>
        </p:nvSpPr>
        <p:spPr>
          <a:xfrm>
            <a:off x="9592526" y="5794546"/>
            <a:ext cx="117893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400">
                <a:latin typeface="Arial"/>
                <a:ea typeface="等线"/>
                <a:cs typeface="Arial"/>
              </a:rPr>
              <a:t>blue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540D547-EF4A-A217-1453-3C1174229AAD}"/>
              </a:ext>
            </a:extLst>
          </p:cNvPr>
          <p:cNvCxnSpPr>
            <a:cxnSpLocks/>
          </p:cNvCxnSpPr>
          <p:nvPr/>
        </p:nvCxnSpPr>
        <p:spPr>
          <a:xfrm flipH="1" flipV="1">
            <a:off x="9152303" y="4209708"/>
            <a:ext cx="702402" cy="1372344"/>
          </a:xfrm>
          <a:prstGeom prst="straightConnector1">
            <a:avLst/>
          </a:prstGeom>
          <a:ln w="28575"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80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42D3-0930-5350-A785-C6D4A8353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C4DB7D3-2DB7-BC47-0717-F2F858B6E07F}"/>
              </a:ext>
            </a:extLst>
          </p:cNvPr>
          <p:cNvSpPr txBox="1"/>
          <p:nvPr/>
        </p:nvSpPr>
        <p:spPr>
          <a:xfrm>
            <a:off x="785090" y="683492"/>
            <a:ext cx="3814618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3400" b="1">
                <a:latin typeface="Arial"/>
                <a:ea typeface="等线"/>
                <a:cs typeface="Arial"/>
              </a:rPr>
              <a:t>Test Results</a:t>
            </a:r>
            <a:endParaRPr lang="zh-CN" altLang="en-US" sz="3400" b="1">
              <a:latin typeface="Arial"/>
              <a:ea typeface="等线"/>
              <a:cs typeface="Arial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B51528-47EE-65EA-7DD4-514323C6B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461678E-DC1F-7048-72F8-DF89B18EF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333810"/>
              </p:ext>
            </p:extLst>
          </p:nvPr>
        </p:nvGraphicFramePr>
        <p:xfrm>
          <a:off x="1937339" y="2590205"/>
          <a:ext cx="816864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73588766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648431685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4271826721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604527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Correct </a:t>
                      </a:r>
                      <a:r>
                        <a:rPr lang="en-US" alt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Pr</a:t>
                      </a: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edictions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T</a:t>
                      </a: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ot</a:t>
                      </a:r>
                      <a:r>
                        <a:rPr lang="en-US" alt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al</a:t>
                      </a: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 </a:t>
                      </a:r>
                      <a:r>
                        <a:rPr lang="en-US" alt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T</a:t>
                      </a: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ri</a:t>
                      </a:r>
                      <a:r>
                        <a:rPr lang="en-US" alt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al</a:t>
                      </a:r>
                      <a:r>
                        <a:rPr lang="zh-CN" sz="2200" b="1" i="0" u="none" strike="noStrike" baseline="0" noProof="0">
                          <a:solidFill>
                            <a:srgbClr val="FFFFFF"/>
                          </a:solidFill>
                          <a:latin typeface="等线"/>
                          <a:ea typeface="等线"/>
                        </a:rPr>
                        <a:t>s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Ac</a:t>
                      </a:r>
                      <a:r>
                        <a:rPr lang="zh-CN" altLang="en-US" sz="2200">
                          <a:latin typeface="Arial"/>
                        </a:rPr>
                        <a:t>c</a:t>
                      </a:r>
                      <a:r>
                        <a:rPr lang="en-US" altLang="en-US" sz="2200">
                          <a:latin typeface="Arial"/>
                        </a:rPr>
                        <a:t>u</a:t>
                      </a:r>
                      <a:r>
                        <a:rPr lang="zh-CN" altLang="en-US" sz="2200">
                          <a:latin typeface="Arial"/>
                        </a:rPr>
                        <a:t>r</a:t>
                      </a:r>
                      <a:r>
                        <a:rPr lang="en-US" altLang="en-US" sz="2200">
                          <a:latin typeface="Arial"/>
                        </a:rPr>
                        <a:t>a</a:t>
                      </a:r>
                      <a:r>
                        <a:rPr lang="zh-CN" altLang="en-US" sz="2200">
                          <a:latin typeface="Arial"/>
                        </a:rPr>
                        <a:t>c</a:t>
                      </a:r>
                      <a:r>
                        <a:rPr lang="en-US" altLang="en-US" sz="2200">
                          <a:latin typeface="Arial"/>
                        </a:rPr>
                        <a:t>y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927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sz="2200">
                          <a:latin typeface="Arial"/>
                        </a:rPr>
                        <a:t>P</a:t>
                      </a:r>
                      <a:r>
                        <a:rPr lang="en-US" altLang="en-US" sz="2200">
                          <a:latin typeface="Arial"/>
                        </a:rPr>
                        <a:t>alm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100%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59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F</a:t>
                      </a:r>
                      <a:r>
                        <a:rPr lang="zh-CN" altLang="en-US" sz="2200">
                          <a:latin typeface="Arial"/>
                        </a:rPr>
                        <a:t>is</a:t>
                      </a:r>
                      <a:r>
                        <a:rPr lang="en-US" altLang="en-US" sz="2200">
                          <a:latin typeface="Arial"/>
                        </a:rPr>
                        <a:t>t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100%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5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zh-CN" altLang="en-US" sz="2200">
                          <a:latin typeface="Arial"/>
                        </a:rPr>
                        <a:t>P</a:t>
                      </a:r>
                      <a:r>
                        <a:rPr lang="en-US" altLang="en-US" sz="2200">
                          <a:latin typeface="Arial"/>
                        </a:rPr>
                        <a:t>o</a:t>
                      </a:r>
                      <a:r>
                        <a:rPr lang="zh-CN" altLang="en-US" sz="2200">
                          <a:latin typeface="Arial"/>
                        </a:rPr>
                        <a:t>i</a:t>
                      </a:r>
                      <a:r>
                        <a:rPr lang="en-US" altLang="en-US" sz="2200">
                          <a:latin typeface="Arial"/>
                        </a:rPr>
                        <a:t>n</a:t>
                      </a:r>
                      <a:r>
                        <a:rPr lang="zh-CN" altLang="en-US" sz="2200">
                          <a:latin typeface="Arial"/>
                        </a:rPr>
                        <a:t>tin</a:t>
                      </a:r>
                      <a:r>
                        <a:rPr lang="en-US" altLang="en-US" sz="2200">
                          <a:latin typeface="Arial"/>
                        </a:rPr>
                        <a:t>g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9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10</a:t>
                      </a:r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en-US" sz="2200">
                          <a:latin typeface="Arial"/>
                        </a:rPr>
                        <a:t>90%</a:t>
                      </a:r>
                      <a:endParaRPr lang="zh-CN" altLang="en-US" sz="2200">
                        <a:latin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4290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55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472C6-DC81-684A-4991-9829F9DA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rial"/>
                <a:cs typeface="Arial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4696-A3D0-DE6C-1029-3E7DF3E2C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More hand signals recognized</a:t>
            </a:r>
          </a:p>
          <a:p>
            <a:pPr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Video analysis instead of photo</a:t>
            </a:r>
          </a:p>
          <a:p>
            <a:pPr>
              <a:lnSpc>
                <a:spcPct val="150000"/>
              </a:lnSpc>
            </a:pPr>
            <a:r>
              <a:rPr lang="en-US">
                <a:latin typeface="Aptos" panose="020B0004020202020204" pitchFamily="34" charset="0"/>
              </a:rPr>
              <a:t>Detect multiple gestures at once</a:t>
            </a:r>
          </a:p>
          <a:p>
            <a:pPr>
              <a:lnSpc>
                <a:spcPct val="100000"/>
              </a:lnSpc>
            </a:pPr>
            <a:r>
              <a:rPr lang="en-US">
                <a:latin typeface="Aptos" panose="020B0004020202020204" pitchFamily="34" charset="0"/>
              </a:rPr>
              <a:t>Increase robustness for lighting conditions, background clutter, </a:t>
            </a:r>
            <a:r>
              <a:rPr lang="en-US" err="1">
                <a:latin typeface="Aptos" panose="020B0004020202020204" pitchFamily="34" charset="0"/>
              </a:rPr>
              <a:t>etc</a:t>
            </a:r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EE736-21C3-1ECB-21A4-1B57643A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8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9C3CB-25F5-6CE8-515F-B71DB1D4D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latin typeface="Arial"/>
                <a:cs typeface="Arial"/>
              </a:rPr>
              <a:t>Bibliography</a:t>
            </a:r>
            <a:endParaRPr lang="en-US" sz="3400" b="1">
              <a:latin typeface="Arial"/>
              <a:ea typeface="等线 Light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9D210-7825-E8C4-E381-95A358247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[1] Asmara, R.A. et al. 2024. An Experimental Study on Deep Learning Technique Implemented on Low Specification </a:t>
            </a:r>
            <a:r>
              <a:rPr lang="en-US" err="1"/>
              <a:t>OpenMV</a:t>
            </a:r>
            <a:r>
              <a:rPr lang="en-US"/>
              <a:t> Cam H7 Device. </a:t>
            </a:r>
            <a:r>
              <a:rPr lang="en-US" i="1"/>
              <a:t>JOIV : International Journal on Informatics Visualization</a:t>
            </a:r>
            <a:r>
              <a:rPr lang="en-US"/>
              <a:t>. 8, 2 (May 2024), 1017–1029. </a:t>
            </a:r>
            <a:r>
              <a:rPr lang="en-US">
                <a:hlinkClick r:id="rId2"/>
              </a:rPr>
              <a:t>https://doi.org/10.62527/joiv.8.2.2299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[2] Gui, Y. 2024. Edge impulse-based convolutional neural network for Hand Posture Recognition. </a:t>
            </a:r>
            <a:r>
              <a:rPr lang="en-US" i="1"/>
              <a:t>Applied and Computational Engineering</a:t>
            </a:r>
            <a:r>
              <a:rPr lang="en-US"/>
              <a:t>. 40, (Jan. 2024), 115–119. </a:t>
            </a:r>
            <a:r>
              <a:rPr lang="en-US">
                <a:hlinkClick r:id="rId3"/>
              </a:rPr>
              <a:t>https://doi.org/10.54254/2755-2721/40/20230636</a:t>
            </a:r>
            <a:r>
              <a:rPr lang="en-US"/>
              <a:t>.</a:t>
            </a:r>
          </a:p>
          <a:p>
            <a:pPr marL="0" indent="0">
              <a:buNone/>
            </a:pPr>
            <a:r>
              <a:rPr lang="en-US"/>
              <a:t>[3] Saporiti, N. et al. 2025. Implementing an AI-Driven Gesture Recognition System in MES for Enhanced Efficiency and Human-Centric Operations in Industry 5.0. </a:t>
            </a:r>
            <a:r>
              <a:rPr lang="en-US" i="1"/>
              <a:t>IFAC-</a:t>
            </a:r>
            <a:r>
              <a:rPr lang="en-US" i="1" err="1"/>
              <a:t>PapersOnLine</a:t>
            </a:r>
            <a:r>
              <a:rPr lang="en-US"/>
              <a:t>. 59, 10 (Jan. 2025), 1660–1665. </a:t>
            </a:r>
            <a:r>
              <a:rPr lang="en-US">
                <a:hlinkClick r:id="rId4"/>
              </a:rPr>
              <a:t>https://doi.org/10.1016/j.ifacol.2025.09.279</a:t>
            </a:r>
            <a:r>
              <a:rPr lang="en-US"/>
              <a:t>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FBB0A-3263-6F18-CA82-F699D848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743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CEBB77DB694E44ACBA8FF9705AD686" ma:contentTypeVersion="5" ma:contentTypeDescription="Create a new document." ma:contentTypeScope="" ma:versionID="25a0007a91b6d7f09e33dd4ea24670b5">
  <xsd:schema xmlns:xsd="http://www.w3.org/2001/XMLSchema" xmlns:xs="http://www.w3.org/2001/XMLSchema" xmlns:p="http://schemas.microsoft.com/office/2006/metadata/properties" xmlns:ns3="c397c6ba-e770-47f6-99c3-1d7a542738a3" targetNamespace="http://schemas.microsoft.com/office/2006/metadata/properties" ma:root="true" ma:fieldsID="1af91d4aa6dd6d3eb937c235f2b79fe2" ns3:_="">
    <xsd:import namespace="c397c6ba-e770-47f6-99c3-1d7a542738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97c6ba-e770-47f6-99c3-1d7a542738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97c6ba-e770-47f6-99c3-1d7a542738a3" xsi:nil="true"/>
  </documentManagement>
</p:properties>
</file>

<file path=customXml/itemProps1.xml><?xml version="1.0" encoding="utf-8"?>
<ds:datastoreItem xmlns:ds="http://schemas.openxmlformats.org/officeDocument/2006/customXml" ds:itemID="{6C79CADC-5B14-47C8-B989-A49E0F4396AD}">
  <ds:schemaRefs>
    <ds:schemaRef ds:uri="c397c6ba-e770-47f6-99c3-1d7a542738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5D2B2C-F90A-4989-BDC8-682AA4F656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A2510A-0884-44E7-ACC7-33CDED4421DD}">
  <ds:schemaRefs>
    <ds:schemaRef ds:uri="c397c6ba-e770-47f6-99c3-1d7a542738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1000</Words>
  <Application>Microsoft Office PowerPoint</Application>
  <PresentationFormat>宽屏</PresentationFormat>
  <Paragraphs>115</Paragraphs>
  <Slides>15</Slides>
  <Notes>2</Notes>
  <HiddenSlides>0</HiddenSlides>
  <MMClips>3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Aptos</vt:lpstr>
      <vt:lpstr>Arial</vt:lpstr>
      <vt:lpstr>Office 主题​​</vt:lpstr>
      <vt:lpstr>Hand Gesture Recognition on an Embedded Vision System</vt:lpstr>
      <vt:lpstr>PowerPoint 演示文稿</vt:lpstr>
      <vt:lpstr>Related Work</vt:lpstr>
      <vt:lpstr>PowerPoint 演示文稿</vt:lpstr>
      <vt:lpstr>Motivation</vt:lpstr>
      <vt:lpstr>Team &amp; Technical Background</vt:lpstr>
      <vt:lpstr>PowerPoint 演示文稿</vt:lpstr>
      <vt:lpstr>PowerPoint 演示文稿</vt:lpstr>
      <vt:lpstr>Datasets</vt:lpstr>
      <vt:lpstr>Innovations</vt:lpstr>
      <vt:lpstr>PowerPoint 演示文稿</vt:lpstr>
      <vt:lpstr>PowerPoint 演示文稿</vt:lpstr>
      <vt:lpstr>PowerPoint 演示文稿</vt:lpstr>
      <vt:lpstr>Future Work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Deng, Yi (edh4su)</dc:creator>
  <cp:lastModifiedBy>Deng, Yi (edh4su)</cp:lastModifiedBy>
  <cp:revision>13</cp:revision>
  <dcterms:created xsi:type="dcterms:W3CDTF">2025-12-09T00:28:39Z</dcterms:created>
  <dcterms:modified xsi:type="dcterms:W3CDTF">2025-12-19T01:27:28Z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0x010100D6CEBB77DB694E44ACBA8FF9705AD686</vt:lpwstr>
  </property>
</Properties>
</file>