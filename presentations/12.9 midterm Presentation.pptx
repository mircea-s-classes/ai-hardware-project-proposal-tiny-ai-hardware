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57" r:id="rId6"/>
    <p:sldId id="258" r:id="rId7"/>
    <p:sldId id="262" r:id="rId8"/>
    <p:sldId id="260" r:id="rId9"/>
    <p:sldId id="259" r:id="rId10"/>
    <p:sldId id="26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F2F2F2"/>
    <a:srgbClr val="4A90E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702FA-C9BD-436C-82A3-86A54C68A8A8}" v="7" dt="2025-12-09T04:10:09.292"/>
    <p1510:client id="{6A888942-FECA-4DC5-9A57-D98BF2F2ED1E}" v="28" dt="2025-12-09T18:28:38.102"/>
    <p1510:client id="{6FCF8CE2-F30C-F5F1-D2F1-90E38B0F9E61}" v="1004" dt="2025-12-09T18:24:03.244"/>
    <p1510:client id="{E20DA325-65D2-380F-11D6-F09117629F9A}" v="33" dt="2025-12-09T18:17:31.805"/>
    <p1510:client id="{E8539963-F85A-4DB2-8C1F-2E5A0CCF31E6}" v="390" dt="2025-12-09T05:05:24.5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2524" autoAdjust="0"/>
  </p:normalViewPr>
  <p:slideViewPr>
    <p:cSldViewPr snapToGrid="0">
      <p:cViewPr varScale="1">
        <p:scale>
          <a:sx n="91" d="100"/>
          <a:sy n="91" d="100"/>
        </p:scale>
        <p:origin x="13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6CC98-F2FB-4A02-B7AA-47456E3BA1D2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C5A03B-DFEF-4BA1-98D8-554768CB192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981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For our methodology, we follow a simple end-to-end pipeline.</a:t>
            </a:r>
          </a:p>
          <a:p>
            <a:r>
              <a:rPr lang="en-US" altLang="zh-CN" dirty="0"/>
              <a:t>We first collect images for the three gesture classes using the </a:t>
            </a:r>
            <a:r>
              <a:rPr lang="en-US" altLang="zh-CN" dirty="0" err="1"/>
              <a:t>OpenMV</a:t>
            </a:r>
            <a:r>
              <a:rPr lang="en-US" altLang="zh-CN" dirty="0"/>
              <a:t> camera, and we also include some public data to make the dataset more diverse.</a:t>
            </a:r>
            <a:br>
              <a:rPr lang="en-US" altLang="zh-CN" dirty="0"/>
            </a:br>
            <a:r>
              <a:rPr lang="en-US" altLang="zh-CN" dirty="0"/>
              <a:t>Next, we upload everything to Edge Impulse and train a lightweight </a:t>
            </a:r>
            <a:r>
              <a:rPr lang="en-US" altLang="zh-CN" dirty="0" err="1"/>
              <a:t>MobileNet</a:t>
            </a:r>
            <a:r>
              <a:rPr lang="en-US" altLang="zh-CN" dirty="0"/>
              <a:t> model that can run on the microcontroller.</a:t>
            </a:r>
          </a:p>
          <a:p>
            <a:r>
              <a:rPr lang="en-US" altLang="zh-CN" dirty="0"/>
              <a:t>After the model is trained and quantized, we deploy it onto the </a:t>
            </a:r>
            <a:r>
              <a:rPr lang="en-US" altLang="zh-CN" dirty="0" err="1"/>
              <a:t>OpenMV</a:t>
            </a:r>
            <a:r>
              <a:rPr lang="en-US" altLang="zh-CN" dirty="0"/>
              <a:t> H7 board.</a:t>
            </a:r>
            <a:br>
              <a:rPr lang="en-US" altLang="zh-CN" dirty="0"/>
            </a:br>
            <a:r>
              <a:rPr lang="en-US" altLang="zh-CN" dirty="0"/>
              <a:t>The final step is real-time testing, where the board classifies each gesture live and maps it to different outputs—for example, a red signal for a fist, green for a palm, and blue for a pointing gesture.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C5A03B-DFEF-4BA1-98D8-554768CB192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932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C3B988-58B5-9621-29BD-5CD1B61E04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144468-E186-284D-3F95-99A795295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B2AF8E-F5EE-24C4-6D39-743FBA04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A625D-B959-AA66-F710-6AF1CB8F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A9BD2-CABF-7746-610A-FB376251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7369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2325D-DF9A-ED13-E355-BEA083380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288092-8AA4-1EA9-5BAC-A69BF87B3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370B2C-A3E2-F24E-EF30-D5651A5DC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A0F8E7-628C-B125-B098-217CBB6EF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9D5458-2489-1516-094B-83C507F7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FCD40269-EEE0-1C2B-3A3F-8582915E33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553" y="136525"/>
            <a:ext cx="1612926" cy="90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50019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624F3F-697D-F653-22E6-E8FDA0BE3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9DED1FF-4FD2-7BEA-EDA9-73C2AB070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1301AB-6A4E-CAEE-E8A8-14F5991FF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5470B2-8D2F-51C1-1C2D-930324426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AB429C-5B05-C3AB-4662-9EFDB59C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05846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9AD33-1C02-027D-109F-D3EA09157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60F0D3-5B1C-32C2-A67C-B95CFCDF8F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70A5FF-A80B-3FFB-0ECC-97FBB5848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1B8107E-0327-CDBC-B1F3-71DD61F58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D9136D-9450-2FB8-F6F7-828DBE893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63C26E-F0CB-CCBA-6046-F3EB0A10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12240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192F02-CFB3-720E-90EA-EF3694DBD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DC28795-C2C6-3E16-71D4-85953122A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32BAA1-0666-8648-01F2-142E6F44A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885E57-CA4E-4BBD-9314-F4F55C2FB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BE1688A-2405-5888-7257-049ED092A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18A2F5-474E-E8F5-65E5-91EE04D85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D5BA3E-F9E0-387D-8240-2EADCE200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885163C-F3B2-8A89-5651-5C48C659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89364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1EC879-2C4F-D7AE-B38F-B63367FBE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0DA683-7056-FCCB-EEE3-42C30CC8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B56EAFC-6103-0453-E527-1BF7E561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AB5AEA-E66D-982D-66F9-CC67BE45F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04837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D2269B-A6DD-4FD1-1B17-061E0F886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77ADD97-FED7-A6B5-273E-65B485653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BA6EC6-9D4E-2F97-10E7-67EA1A040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81732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600F8E-73B2-98BA-8C22-3D4B4B968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182C0B-9B76-1FE2-BD3A-A07DC4432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FE6705-5F8C-E0DB-4536-A75A01CF3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EC00A34-D768-CD73-13F2-25657496A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534090-3A3C-C211-519A-6B64E3A96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D387CF-844F-AF04-92D8-856790F2E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4571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06371-822A-4737-D801-00D0C8DC3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53540E-67A5-30F0-1C14-8137248F2E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FDE1010-DB15-91FD-96C9-28DAF67D42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D2EA1F-EDF8-FA4C-3DBC-988980C9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2A9033-D13A-3B52-010F-258F88E3A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B08698-36D1-7664-B3AD-87AC2D63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55437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F66400-865C-9A1F-5179-505F0FCD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11EEC64-7CBE-635D-F806-479AFEA4E6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593B9D-96F1-E8ED-5D9A-96FB1E27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081FB65-6631-3E81-9918-73CF0612E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9B2275-0336-1A09-A52F-7AA09B3B2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16608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145480-0954-F073-64FA-6935DAC2CB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DDF01BE-F7CF-D418-B16D-135D91C907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A35536-DE0B-FE10-5C10-FCD0AB725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5AAB1C-1DAC-16A7-9E04-00516FF42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68D357-4ABE-837D-F9F4-FB7D942BD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27912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880493D-02A9-E45C-092D-F96E4B9EA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997A80-F13F-DB56-0567-B462A7D13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7C7916-5093-1159-44D9-4D56A0977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B8E26E-287E-4600-BA4D-0EE07620408F}" type="datetimeFigureOut">
              <a:rPr lang="zh-CN" altLang="en-US" smtClean="0"/>
              <a:t>2025/12/9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F2F740-9042-ED2E-3C61-987FB85A34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3C8744-8306-2A29-1E72-D2F6C8EB2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88167-697E-444C-A668-C9C3F1E521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577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56864E-6D46-D693-6F27-79ED47B07F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1491" y="688254"/>
            <a:ext cx="9809018" cy="2387600"/>
          </a:xfrm>
        </p:spPr>
        <p:txBody>
          <a:bodyPr>
            <a:normAutofit/>
          </a:bodyPr>
          <a:lstStyle/>
          <a:p>
            <a:r>
              <a:rPr lang="en-US" altLang="zh-CN" sz="4800">
                <a:latin typeface="Arial" panose="020B0604020202020204" pitchFamily="34" charset="0"/>
                <a:cs typeface="Arial" panose="020B0604020202020204" pitchFamily="34" charset="0"/>
              </a:rPr>
              <a:t>Hand Gesture Recognition on an Embedded Vision System</a:t>
            </a:r>
            <a:endParaRPr lang="zh-CN" altLang="en-US" sz="4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C01B4A2-FC17-C96E-6CBD-7634B77D3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57638"/>
            <a:ext cx="9144000" cy="1655762"/>
          </a:xfrm>
        </p:spPr>
        <p:txBody>
          <a:bodyPr/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Team: Tiny AI Hardware</a:t>
            </a:r>
          </a:p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Team Members: Yi Deng, Ziyu Xuan, Chance M Woosley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 descr="徽标&#10;&#10;AI 生成的内容可能不正确。">
            <a:extLst>
              <a:ext uri="{FF2B5EF4-FFF2-40B4-BE49-F238E27FC236}">
                <a16:creationId xmlns:a16="http://schemas.microsoft.com/office/drawing/2014/main" id="{568BA6F3-1DCA-4EA9-8C1E-E64DC75FC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647" y="154511"/>
            <a:ext cx="1531536" cy="861489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C302D2-AFE1-ACE6-88F7-CBA3E107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764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A3E0F3D-4247-CC25-58AF-6B80178534EC}"/>
              </a:ext>
            </a:extLst>
          </p:cNvPr>
          <p:cNvSpPr txBox="1"/>
          <p:nvPr/>
        </p:nvSpPr>
        <p:spPr>
          <a:xfrm>
            <a:off x="843642" y="667568"/>
            <a:ext cx="4516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Project Overview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23D9C32-71FA-7BBE-3E91-AD9D99E589F9}"/>
              </a:ext>
            </a:extLst>
          </p:cNvPr>
          <p:cNvSpPr txBox="1"/>
          <p:nvPr/>
        </p:nvSpPr>
        <p:spPr>
          <a:xfrm>
            <a:off x="843642" y="1700892"/>
            <a:ext cx="9851571" cy="45368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Goal: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Implement a hand-gesture recognition system with embedded hardware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Expected Results: 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Successful recognition of three different gestures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Evaluation: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Recognizing training dataset with 9</a:t>
            </a:r>
            <a:r>
              <a:rPr lang="en-US" altLang="zh-CN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0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% accuracy or above</a:t>
            </a:r>
            <a:r>
              <a:rPr lang="en-US" altLang="zh-CN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.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Recognizing Real-time gestures with </a:t>
            </a:r>
            <a:r>
              <a:rPr lang="en-US" altLang="zh-CN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85</a:t>
            </a: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% accuracy or above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F542C6D-8F4A-3DFE-ABE4-4FEF6B24E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1364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A94EF57-5FC3-F095-130E-BF2E88FCC00F}"/>
              </a:ext>
            </a:extLst>
          </p:cNvPr>
          <p:cNvSpPr txBox="1"/>
          <p:nvPr/>
        </p:nvSpPr>
        <p:spPr>
          <a:xfrm>
            <a:off x="923634" y="646547"/>
            <a:ext cx="4516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Platform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31ACDBB-8D27-0C49-5737-34A1EBC01CCF}"/>
              </a:ext>
            </a:extLst>
          </p:cNvPr>
          <p:cNvSpPr txBox="1"/>
          <p:nvPr/>
        </p:nvSpPr>
        <p:spPr>
          <a:xfrm>
            <a:off x="905278" y="2035493"/>
            <a:ext cx="5724387" cy="25978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/>
                <a:ea typeface="等线"/>
                <a:cs typeface="Arial"/>
              </a:rPr>
              <a:t>Hardware: OpenMV H7 </a:t>
            </a:r>
            <a:r>
              <a:rPr lang="en-US" altLang="zh-CN" sz="2800">
                <a:latin typeface="Arial"/>
                <a:ea typeface="等线"/>
                <a:cs typeface="Arial"/>
              </a:rPr>
              <a:t>Plus</a:t>
            </a:r>
            <a:endParaRPr lang="zh-CN" altLang="en-US" sz="2800">
              <a:latin typeface="Arial"/>
              <a:ea typeface="等线"/>
              <a:cs typeface="Arial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Input device: Camera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Output: RGB LED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800">
                <a:latin typeface="Arial"/>
                <a:ea typeface="等线"/>
                <a:cs typeface="Arial"/>
              </a:rPr>
              <a:t>Training Platform: Edge Impulse</a:t>
            </a:r>
          </a:p>
        </p:txBody>
      </p:sp>
      <p:pic>
        <p:nvPicPr>
          <p:cNvPr id="1026" name="Picture 2" descr="OpenMV Cam H7 Plus">
            <a:extLst>
              <a:ext uri="{FF2B5EF4-FFF2-40B4-BE49-F238E27FC236}">
                <a16:creationId xmlns:a16="http://schemas.microsoft.com/office/drawing/2014/main" id="{EF1678A3-4BFA-0CF1-37AD-ECE427D4B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3180" y="1490498"/>
            <a:ext cx="3687818" cy="3687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8DD3FFC-3CEF-9271-9C6D-1930BEBD4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9042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8C72E5-9E2C-B85E-D014-509380903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400" b="1"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Datasets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EAE3AB-5EE2-BD43-EAC2-8A97BB5871B1}"/>
              </a:ext>
            </a:extLst>
          </p:cNvPr>
          <p:cNvSpPr txBox="1"/>
          <p:nvPr/>
        </p:nvSpPr>
        <p:spPr>
          <a:xfrm>
            <a:off x="1037895" y="1924626"/>
            <a:ext cx="4993821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2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Rock-Paper-Scissor Datase</a:t>
            </a:r>
            <a:r>
              <a:rPr lang="en-US" altLang="zh-CN" sz="22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t</a:t>
            </a:r>
            <a:endParaRPr lang="zh-CN" altLang="en-US" sz="2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2E868D-7567-29FC-5FCE-F94595626257}"/>
              </a:ext>
            </a:extLst>
          </p:cNvPr>
          <p:cNvSpPr txBox="1"/>
          <p:nvPr/>
        </p:nvSpPr>
        <p:spPr>
          <a:xfrm>
            <a:off x="7302044" y="1924626"/>
            <a:ext cx="3523610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altLang="en-US" sz="22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Our own recorded Dataset</a:t>
            </a:r>
          </a:p>
        </p:txBody>
      </p:sp>
      <p:pic>
        <p:nvPicPr>
          <p:cNvPr id="6" name="图片 5" descr="手上戴着戒指&#10;&#10;AI 生成的内容可能不正确。">
            <a:extLst>
              <a:ext uri="{FF2B5EF4-FFF2-40B4-BE49-F238E27FC236}">
                <a16:creationId xmlns:a16="http://schemas.microsoft.com/office/drawing/2014/main" id="{C154D846-74F2-001B-8B5D-D687098FCE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472" y="3020339"/>
            <a:ext cx="1490847" cy="1490847"/>
          </a:xfrm>
          <a:prstGeom prst="rect">
            <a:avLst/>
          </a:prstGeom>
        </p:spPr>
      </p:pic>
      <p:pic>
        <p:nvPicPr>
          <p:cNvPr id="8" name="图片 7" descr="人的手&#10;&#10;AI 生成的内容可能不正确。">
            <a:extLst>
              <a:ext uri="{FF2B5EF4-FFF2-40B4-BE49-F238E27FC236}">
                <a16:creationId xmlns:a16="http://schemas.microsoft.com/office/drawing/2014/main" id="{F66913EA-2416-F2B4-9D76-25B653A12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4572" y="2746283"/>
            <a:ext cx="1764903" cy="1764903"/>
          </a:xfrm>
          <a:prstGeom prst="rect">
            <a:avLst/>
          </a:prstGeom>
        </p:spPr>
      </p:pic>
      <p:pic>
        <p:nvPicPr>
          <p:cNvPr id="10" name="图片 9" descr="人的手&#10;&#10;AI 生成的内容可能不正确。">
            <a:extLst>
              <a:ext uri="{FF2B5EF4-FFF2-40B4-BE49-F238E27FC236}">
                <a16:creationId xmlns:a16="http://schemas.microsoft.com/office/drawing/2014/main" id="{4E57073F-FFD2-6B75-ADEE-2C81BEF57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613" y="2933919"/>
            <a:ext cx="1577267" cy="1577267"/>
          </a:xfrm>
          <a:prstGeom prst="rect">
            <a:avLst/>
          </a:prstGeom>
        </p:spPr>
      </p:pic>
      <p:pic>
        <p:nvPicPr>
          <p:cNvPr id="12" name="图片 11" descr="人的手&#10;&#10;AI 生成的内容可能不正确。">
            <a:extLst>
              <a:ext uri="{FF2B5EF4-FFF2-40B4-BE49-F238E27FC236}">
                <a16:creationId xmlns:a16="http://schemas.microsoft.com/office/drawing/2014/main" id="{0581C085-C964-04D8-1EE8-CF2A2E517A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3719" y="3170251"/>
            <a:ext cx="1677723" cy="1258292"/>
          </a:xfrm>
          <a:prstGeom prst="rect">
            <a:avLst/>
          </a:prstGeom>
        </p:spPr>
      </p:pic>
      <p:pic>
        <p:nvPicPr>
          <p:cNvPr id="7" name="图片 6" descr="人的手&#10;&#10;AI 生成的内容可能不正确。">
            <a:extLst>
              <a:ext uri="{FF2B5EF4-FFF2-40B4-BE49-F238E27FC236}">
                <a16:creationId xmlns:a16="http://schemas.microsoft.com/office/drawing/2014/main" id="{04C5AEB3-AC60-28E5-2FAD-CC57D21D89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9174" y="3185623"/>
            <a:ext cx="1677723" cy="1258292"/>
          </a:xfrm>
          <a:prstGeom prst="rect">
            <a:avLst/>
          </a:prstGeom>
        </p:spPr>
      </p:pic>
      <p:pic>
        <p:nvPicPr>
          <p:cNvPr id="11" name="图片 10" descr="人的手&#10;&#10;AI 生成的内容可能不正确。">
            <a:extLst>
              <a:ext uri="{FF2B5EF4-FFF2-40B4-BE49-F238E27FC236}">
                <a16:creationId xmlns:a16="http://schemas.microsoft.com/office/drawing/2014/main" id="{4C7C95F9-F9B3-F80D-5C8A-D27A7776B3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59" y="3185137"/>
            <a:ext cx="1677722" cy="1258292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25B9FF-516C-0552-5F94-A7829C6F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831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D19279-A142-4C04-8238-FC0BE854DB9D}"/>
              </a:ext>
            </a:extLst>
          </p:cNvPr>
          <p:cNvSpPr txBox="1"/>
          <p:nvPr/>
        </p:nvSpPr>
        <p:spPr>
          <a:xfrm>
            <a:off x="803561" y="637311"/>
            <a:ext cx="4516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Methodology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180B024-39AF-E7E6-BA97-5B5A2369E0C5}"/>
              </a:ext>
            </a:extLst>
          </p:cNvPr>
          <p:cNvSpPr/>
          <p:nvPr/>
        </p:nvSpPr>
        <p:spPr>
          <a:xfrm>
            <a:off x="803561" y="2897909"/>
            <a:ext cx="1514765" cy="1062182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Data Collection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7BFB096-0C5B-C639-1CAB-6D459EB039D7}"/>
              </a:ext>
            </a:extLst>
          </p:cNvPr>
          <p:cNvSpPr/>
          <p:nvPr/>
        </p:nvSpPr>
        <p:spPr>
          <a:xfrm>
            <a:off x="2817090" y="2897909"/>
            <a:ext cx="1514765" cy="1062182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err="1">
                <a:latin typeface="Arial" panose="020B0604020202020204" pitchFamily="34" charset="0"/>
                <a:cs typeface="Arial" panose="020B0604020202020204" pitchFamily="34" charset="0"/>
              </a:rPr>
              <a:t>MobileNet</a:t>
            </a:r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 V2 Model Training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5928DA-EAA7-7423-1348-0DC19C4CAC33}"/>
              </a:ext>
            </a:extLst>
          </p:cNvPr>
          <p:cNvSpPr/>
          <p:nvPr/>
        </p:nvSpPr>
        <p:spPr>
          <a:xfrm>
            <a:off x="4830619" y="2897909"/>
            <a:ext cx="1514765" cy="1062182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Deployment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FA7E995-125B-0BB7-0E5C-3C0AC04C864C}"/>
              </a:ext>
            </a:extLst>
          </p:cNvPr>
          <p:cNvSpPr/>
          <p:nvPr/>
        </p:nvSpPr>
        <p:spPr>
          <a:xfrm>
            <a:off x="6844148" y="2897909"/>
            <a:ext cx="1514765" cy="1062182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Real-time Testing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BEF2CD38-2544-F4F8-C130-E79A0B8E8256}"/>
              </a:ext>
            </a:extLst>
          </p:cNvPr>
          <p:cNvSpPr/>
          <p:nvPr/>
        </p:nvSpPr>
        <p:spPr>
          <a:xfrm>
            <a:off x="2327562" y="3315855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49A5B8AA-854D-F425-CE0B-994C3F494540}"/>
              </a:ext>
            </a:extLst>
          </p:cNvPr>
          <p:cNvSpPr/>
          <p:nvPr/>
        </p:nvSpPr>
        <p:spPr>
          <a:xfrm>
            <a:off x="4331855" y="3315855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5CC0C0ED-CD55-8F51-35C3-17DBFF374BC4}"/>
              </a:ext>
            </a:extLst>
          </p:cNvPr>
          <p:cNvSpPr/>
          <p:nvPr/>
        </p:nvSpPr>
        <p:spPr>
          <a:xfrm>
            <a:off x="6345384" y="3315855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C35B112F-305A-EA58-E868-54A380412564}"/>
              </a:ext>
            </a:extLst>
          </p:cNvPr>
          <p:cNvSpPr/>
          <p:nvPr/>
        </p:nvSpPr>
        <p:spPr>
          <a:xfrm rot="19005209">
            <a:off x="8437421" y="2535478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C137EAFE-443D-320A-FF8C-94AD377599CD}"/>
              </a:ext>
            </a:extLst>
          </p:cNvPr>
          <p:cNvSpPr/>
          <p:nvPr/>
        </p:nvSpPr>
        <p:spPr>
          <a:xfrm>
            <a:off x="8445631" y="3223492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2283B867-8549-80D3-6C2F-1228ECF92A46}"/>
              </a:ext>
            </a:extLst>
          </p:cNvPr>
          <p:cNvSpPr/>
          <p:nvPr/>
        </p:nvSpPr>
        <p:spPr>
          <a:xfrm rot="1682469">
            <a:off x="8437421" y="4064316"/>
            <a:ext cx="498764" cy="221672"/>
          </a:xfrm>
          <a:prstGeom prst="rightArrow">
            <a:avLst/>
          </a:prstGeom>
          <a:solidFill>
            <a:srgbClr val="4A90E2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272CD3E-22EF-9A73-312E-87CC9DF69D0A}"/>
              </a:ext>
            </a:extLst>
          </p:cNvPr>
          <p:cNvSpPr/>
          <p:nvPr/>
        </p:nvSpPr>
        <p:spPr>
          <a:xfrm>
            <a:off x="8944395" y="1893455"/>
            <a:ext cx="1529386" cy="699750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Fist: red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9120236-631B-86B7-4255-C020012180F9}"/>
              </a:ext>
            </a:extLst>
          </p:cNvPr>
          <p:cNvSpPr/>
          <p:nvPr/>
        </p:nvSpPr>
        <p:spPr>
          <a:xfrm>
            <a:off x="8959015" y="2984453"/>
            <a:ext cx="1514766" cy="699750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altLang="zh-CN">
                <a:latin typeface="Arial"/>
                <a:ea typeface="等线"/>
                <a:cs typeface="Arial"/>
              </a:rPr>
              <a:t>Palm: green</a:t>
            </a:r>
            <a:endParaRPr lang="zh-CN" altLang="en-US">
              <a:latin typeface="Arial"/>
              <a:ea typeface="等线"/>
              <a:cs typeface="Arial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1D98DF2F-A250-8699-CC95-70B27C1EE7AA}"/>
              </a:ext>
            </a:extLst>
          </p:cNvPr>
          <p:cNvSpPr/>
          <p:nvPr/>
        </p:nvSpPr>
        <p:spPr>
          <a:xfrm>
            <a:off x="8959015" y="4075451"/>
            <a:ext cx="1514766" cy="699750"/>
          </a:xfrm>
          <a:prstGeom prst="roundRect">
            <a:avLst/>
          </a:prstGeom>
          <a:ln>
            <a:solidFill>
              <a:srgbClr val="00336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Pointing: blue</a:t>
            </a:r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8ABDB8B-EB63-251B-E929-28F61388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71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357756A-5C2C-F4B7-28EE-A02680957540}"/>
              </a:ext>
            </a:extLst>
          </p:cNvPr>
          <p:cNvSpPr txBox="1"/>
          <p:nvPr/>
        </p:nvSpPr>
        <p:spPr>
          <a:xfrm>
            <a:off x="923634" y="646547"/>
            <a:ext cx="451658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Team &amp; Roles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E57051-DA33-FECA-A8EC-98E3585656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345325"/>
              </p:ext>
            </p:extLst>
          </p:nvPr>
        </p:nvGraphicFramePr>
        <p:xfrm>
          <a:off x="1463963" y="2086648"/>
          <a:ext cx="9116292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38764">
                  <a:extLst>
                    <a:ext uri="{9D8B030D-6E8A-4147-A177-3AD203B41FA5}">
                      <a16:colId xmlns:a16="http://schemas.microsoft.com/office/drawing/2014/main" val="592852020"/>
                    </a:ext>
                  </a:extLst>
                </a:gridCol>
                <a:gridCol w="3038764">
                  <a:extLst>
                    <a:ext uri="{9D8B030D-6E8A-4147-A177-3AD203B41FA5}">
                      <a16:colId xmlns:a16="http://schemas.microsoft.com/office/drawing/2014/main" val="26992004"/>
                    </a:ext>
                  </a:extLst>
                </a:gridCol>
                <a:gridCol w="3038764">
                  <a:extLst>
                    <a:ext uri="{9D8B030D-6E8A-4147-A177-3AD203B41FA5}">
                      <a16:colId xmlns:a16="http://schemas.microsoft.com/office/drawing/2014/main" val="3544923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Member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Roles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Responsibilities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453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Yi Deng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&amp; Model </a:t>
                      </a:r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Dataset collection, public dataset integration, EI training &amp; tuning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0491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Ziyu Xuan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Embedded System</a:t>
                      </a:r>
                      <a:endParaRPr lang="zh-CN" alt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Deployment, inference code,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784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Chance M Woosley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Arial"/>
                          <a:cs typeface="Arial"/>
                        </a:rPr>
                        <a:t>Testing &amp; Documentation 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b="0" i="0" u="none" strike="noStrike" noProof="0">
                          <a:solidFill>
                            <a:srgbClr val="000000"/>
                          </a:solidFill>
                          <a:latin typeface="Arial"/>
                        </a:rPr>
                        <a:t>Performance Evaluation, Report writing, </a:t>
                      </a:r>
                      <a:r>
                        <a:rPr lang="en-US" altLang="zh-CN" sz="2000">
                          <a:latin typeface="Arial"/>
                          <a:cs typeface="Arial"/>
                        </a:rPr>
                        <a:t>GitHub management</a:t>
                      </a:r>
                      <a:endParaRPr lang="zh-CN" altLang="en-US" sz="2000">
                        <a:latin typeface="Arial"/>
                        <a:cs typeface="Arial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2951942"/>
                  </a:ext>
                </a:extLst>
              </a:tr>
            </a:tbl>
          </a:graphicData>
        </a:graphic>
      </p:graphicFrame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4DEF86F-79EC-FFE4-EE1A-7AA7FAD9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412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D57A-91DB-6252-FBC5-4FEF2350F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BCDD726-107F-8935-76A8-B8C1B5436C63}"/>
              </a:ext>
            </a:extLst>
          </p:cNvPr>
          <p:cNvSpPr txBox="1"/>
          <p:nvPr/>
        </p:nvSpPr>
        <p:spPr>
          <a:xfrm>
            <a:off x="785090" y="683492"/>
            <a:ext cx="381461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400" b="1">
                <a:latin typeface="Arial" panose="020B0604020202020204" pitchFamily="34" charset="0"/>
                <a:cs typeface="Arial" panose="020B0604020202020204" pitchFamily="34" charset="0"/>
              </a:rPr>
              <a:t>Current Progress</a:t>
            </a:r>
            <a:endParaRPr lang="zh-CN" altLang="en-US" sz="3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110A78A-269B-3054-40D1-1DB7FF55B88A}"/>
              </a:ext>
            </a:extLst>
          </p:cNvPr>
          <p:cNvSpPr txBox="1"/>
          <p:nvPr/>
        </p:nvSpPr>
        <p:spPr>
          <a:xfrm>
            <a:off x="2299853" y="1681017"/>
            <a:ext cx="1228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palm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594FCC1-2650-341E-0550-3E24D0D250C7}"/>
              </a:ext>
            </a:extLst>
          </p:cNvPr>
          <p:cNvSpPr txBox="1"/>
          <p:nvPr/>
        </p:nvSpPr>
        <p:spPr>
          <a:xfrm>
            <a:off x="8188035" y="1681017"/>
            <a:ext cx="7804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fist</a:t>
            </a:r>
            <a:endParaRPr lang="zh-CN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 descr="人的手&#10;&#10;AI 生成的内容可能不正确。">
            <a:extLst>
              <a:ext uri="{FF2B5EF4-FFF2-40B4-BE49-F238E27FC236}">
                <a16:creationId xmlns:a16="http://schemas.microsoft.com/office/drawing/2014/main" id="{08C610D9-6D90-5FF1-31C5-CC1462072A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74" y="2524654"/>
            <a:ext cx="3833892" cy="2874295"/>
          </a:xfrm>
          <a:prstGeom prst="rect">
            <a:avLst/>
          </a:prstGeom>
        </p:spPr>
      </p:pic>
      <p:pic>
        <p:nvPicPr>
          <p:cNvPr id="8" name="图片 7" descr="图片包含 人, 男人, 年轻, 女人&#10;&#10;AI 生成的内容可能不正确。">
            <a:extLst>
              <a:ext uri="{FF2B5EF4-FFF2-40B4-BE49-F238E27FC236}">
                <a16:creationId xmlns:a16="http://schemas.microsoft.com/office/drawing/2014/main" id="{14AC7012-381A-3142-982C-D1D83F245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271878" y="1966915"/>
            <a:ext cx="2991159" cy="3989771"/>
          </a:xfrm>
          <a:prstGeom prst="rect">
            <a:avLst/>
          </a:prstGeom>
        </p:spPr>
      </p:pic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4084C4-7F67-3DB0-DD05-E5B7F164B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88167-697E-444C-A668-C9C3F1E521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0803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6CEBB77DB694E44ACBA8FF9705AD686" ma:contentTypeVersion="5" ma:contentTypeDescription="Create a new document." ma:contentTypeScope="" ma:versionID="25a0007a91b6d7f09e33dd4ea24670b5">
  <xsd:schema xmlns:xsd="http://www.w3.org/2001/XMLSchema" xmlns:xs="http://www.w3.org/2001/XMLSchema" xmlns:p="http://schemas.microsoft.com/office/2006/metadata/properties" xmlns:ns3="c397c6ba-e770-47f6-99c3-1d7a542738a3" targetNamespace="http://schemas.microsoft.com/office/2006/metadata/properties" ma:root="true" ma:fieldsID="1af91d4aa6dd6d3eb937c235f2b79fe2" ns3:_="">
    <xsd:import namespace="c397c6ba-e770-47f6-99c3-1d7a542738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397c6ba-e770-47f6-99c3-1d7a542738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397c6ba-e770-47f6-99c3-1d7a542738a3" xsi:nil="true"/>
  </documentManagement>
</p:properties>
</file>

<file path=customXml/itemProps1.xml><?xml version="1.0" encoding="utf-8"?>
<ds:datastoreItem xmlns:ds="http://schemas.openxmlformats.org/officeDocument/2006/customXml" ds:itemID="{6C79CADC-5B14-47C8-B989-A49E0F4396AD}">
  <ds:schemaRefs>
    <ds:schemaRef ds:uri="c397c6ba-e770-47f6-99c3-1d7a542738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E5D2B2C-F90A-4989-BDC8-682AA4F6561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A2510A-0884-44E7-ACC7-33CDED4421DD}">
  <ds:schemaRefs>
    <ds:schemaRef ds:uri="http://schemas.microsoft.com/office/2006/documentManagement/types"/>
    <ds:schemaRef ds:uri="http://purl.org/dc/terms/"/>
    <ds:schemaRef ds:uri="http://schemas.microsoft.com/office/infopath/2007/PartnerControls"/>
    <ds:schemaRef ds:uri="c397c6ba-e770-47f6-99c3-1d7a542738a3"/>
    <ds:schemaRef ds:uri="http://schemas.openxmlformats.org/package/2006/metadata/core-properties"/>
    <ds:schemaRef ds:uri="http://www.w3.org/XML/1998/namespace"/>
    <ds:schemaRef ds:uri="http://purl.org/dc/dcmitype/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宽屏</PresentationFormat>
  <Paragraphs>50</Paragraphs>
  <Slides>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等线</vt:lpstr>
      <vt:lpstr>等线 Light</vt:lpstr>
      <vt:lpstr>Arial</vt:lpstr>
      <vt:lpstr>Office 主题​​</vt:lpstr>
      <vt:lpstr>Hand Gesture Recognition on an Embedded Vision System</vt:lpstr>
      <vt:lpstr>PowerPoint 演示文稿</vt:lpstr>
      <vt:lpstr>PowerPoint 演示文稿</vt:lpstr>
      <vt:lpstr>Datasets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Deng, Yi (edh4su)</dc:creator>
  <cp:lastModifiedBy>Deng, Yi (edh4su)</cp:lastModifiedBy>
  <cp:revision>2</cp:revision>
  <dcterms:created xsi:type="dcterms:W3CDTF">2025-12-09T00:28:39Z</dcterms:created>
  <dcterms:modified xsi:type="dcterms:W3CDTF">2025-12-10T00:15:46Z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0x010100D6CEBB77DB694E44ACBA8FF9705AD686</vt:lpwstr>
  </property>
</Properties>
</file>